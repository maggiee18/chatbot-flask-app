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media/image11.svg" ContentType="image/svg+xml"/>
  <Override PartName="/ppt/media/image13.svg" ContentType="image/svg+xml"/>
  <Override PartName="/ppt/media/image4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8288000" cy="10287000"/>
  <p:notesSz cx="6858000" cy="9144000"/>
  <p:embeddedFontLst>
    <p:embeddedFont>
      <p:font typeface="Anonymous Pro" panose="02060609030202000504"/>
      <p:regular r:id="rId16"/>
    </p:embeddedFont>
    <p:embeddedFont>
      <p:font typeface="Anonymous Pro Bold" panose="02060809030202000504"/>
      <p:bold r:id="rId17"/>
    </p:embeddedFont>
    <p:embeddedFont>
      <p:font typeface="Calibri" panose="020F0502020204030204" charset="0"/>
      <p:regular r:id="rId18"/>
      <p:bold r:id="rId19"/>
      <p:italic r:id="rId20"/>
      <p:boldItalic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font" Target="fonts/font6.fntdata"/><Relationship Id="rId20" Type="http://schemas.openxmlformats.org/officeDocument/2006/relationships/font" Target="fonts/font5.fntdata"/><Relationship Id="rId2" Type="http://schemas.openxmlformats.org/officeDocument/2006/relationships/theme" Target="theme/theme1.xml"/><Relationship Id="rId19" Type="http://schemas.openxmlformats.org/officeDocument/2006/relationships/font" Target="fonts/font4.fntdata"/><Relationship Id="rId18" Type="http://schemas.openxmlformats.org/officeDocument/2006/relationships/font" Target="fonts/font3.fntdata"/><Relationship Id="rId17" Type="http://schemas.openxmlformats.org/officeDocument/2006/relationships/font" Target="fonts/font2.fntdata"/><Relationship Id="rId16" Type="http://schemas.openxmlformats.org/officeDocument/2006/relationships/font" Target="fonts/font1.fntdata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5.jpeg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7.jpeg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.jpeg"/><Relationship Id="rId1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-1534520" y="2290949"/>
            <a:ext cx="11566680" cy="38041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710"/>
              </a:lnSpc>
              <a:spcBef>
                <a:spcPct val="0"/>
              </a:spcBef>
            </a:pPr>
            <a:r>
              <a:rPr lang="en-US" sz="14075">
                <a:solidFill>
                  <a:srgbClr val="C1FF72"/>
                </a:solidFill>
                <a:latin typeface="Anonymous Pro" panose="02060609030202000504"/>
                <a:ea typeface="Anonymous Pro" panose="02060609030202000504"/>
                <a:cs typeface="Anonymous Pro" panose="02060609030202000504"/>
                <a:sym typeface="Anonymous Pro" panose="02060609030202000504"/>
              </a:rPr>
              <a:t>CHATBOT</a:t>
            </a:r>
            <a:endParaRPr lang="en-US" sz="14075">
              <a:solidFill>
                <a:srgbClr val="C1FF72"/>
              </a:solidFill>
              <a:latin typeface="Anonymous Pro" panose="02060609030202000504"/>
              <a:ea typeface="Anonymous Pro" panose="02060609030202000504"/>
              <a:cs typeface="Anonymous Pro" panose="02060609030202000504"/>
              <a:sym typeface="Anonymous Pro" panose="02060609030202000504"/>
            </a:endParaRPr>
          </a:p>
          <a:p>
            <a:pPr algn="ctr">
              <a:lnSpc>
                <a:spcPts val="10330"/>
              </a:lnSpc>
              <a:spcBef>
                <a:spcPct val="0"/>
              </a:spcBef>
            </a:pPr>
            <a:r>
              <a:rPr lang="en-US" sz="7380">
                <a:solidFill>
                  <a:srgbClr val="C1FF72"/>
                </a:solidFill>
                <a:latin typeface="Anonymous Pro" panose="02060609030202000504"/>
                <a:ea typeface="Anonymous Pro" panose="02060609030202000504"/>
                <a:cs typeface="Anonymous Pro" panose="02060609030202000504"/>
                <a:sym typeface="Anonymous Pro" panose="02060609030202000504"/>
              </a:rPr>
              <a:t>AI-BASED</a:t>
            </a:r>
            <a:endParaRPr lang="en-US" sz="7380">
              <a:solidFill>
                <a:srgbClr val="C1FF72"/>
              </a:solidFill>
              <a:latin typeface="Anonymous Pro" panose="02060609030202000504"/>
              <a:ea typeface="Anonymous Pro" panose="02060609030202000504"/>
              <a:cs typeface="Anonymous Pro" panose="02060609030202000504"/>
              <a:sym typeface="Anonymous Pro" panose="02060609030202000504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8889552" y="2043472"/>
            <a:ext cx="8504262" cy="5673557"/>
          </a:xfrm>
          <a:custGeom>
            <a:avLst/>
            <a:gdLst/>
            <a:ahLst/>
            <a:cxnLst/>
            <a:rect l="l" t="t" r="r" b="b"/>
            <a:pathLst>
              <a:path w="8504262" h="5673557">
                <a:moveTo>
                  <a:pt x="0" y="0"/>
                </a:moveTo>
                <a:lnTo>
                  <a:pt x="8504262" y="0"/>
                </a:lnTo>
                <a:lnTo>
                  <a:pt x="8504262" y="5673557"/>
                </a:lnTo>
                <a:lnTo>
                  <a:pt x="0" y="56735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edge/>
      </p:transition>
    </mc:Choice>
    <mc:Fallback>
      <p:transition spd="slow">
        <p:wedg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07760" y="418576"/>
            <a:ext cx="7315200" cy="2433967"/>
          </a:xfrm>
          <a:custGeom>
            <a:avLst/>
            <a:gdLst/>
            <a:ahLst/>
            <a:cxnLst/>
            <a:rect l="l" t="t" r="r" b="b"/>
            <a:pathLst>
              <a:path w="7315200" h="2433967">
                <a:moveTo>
                  <a:pt x="0" y="0"/>
                </a:moveTo>
                <a:lnTo>
                  <a:pt x="7315200" y="0"/>
                </a:lnTo>
                <a:lnTo>
                  <a:pt x="7315200" y="2433967"/>
                </a:lnTo>
                <a:lnTo>
                  <a:pt x="0" y="24339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 rot="0">
            <a:off x="11657108" y="2464017"/>
            <a:ext cx="4611282" cy="6794283"/>
            <a:chOff x="0" y="0"/>
            <a:chExt cx="4309748" cy="6350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309748" cy="6350000"/>
            </a:xfrm>
            <a:custGeom>
              <a:avLst/>
              <a:gdLst/>
              <a:ahLst/>
              <a:cxnLst/>
              <a:rect l="l" t="t" r="r" b="b"/>
              <a:pathLst>
                <a:path w="4309748" h="6350000">
                  <a:moveTo>
                    <a:pt x="3620188" y="6350000"/>
                  </a:moveTo>
                  <a:lnTo>
                    <a:pt x="689560" y="6350000"/>
                  </a:lnTo>
                  <a:cubicBezTo>
                    <a:pt x="308578" y="6350000"/>
                    <a:pt x="0" y="6122670"/>
                    <a:pt x="0" y="5842000"/>
                  </a:cubicBezTo>
                  <a:lnTo>
                    <a:pt x="0" y="508000"/>
                  </a:lnTo>
                  <a:cubicBezTo>
                    <a:pt x="0" y="227330"/>
                    <a:pt x="308578" y="0"/>
                    <a:pt x="689560" y="0"/>
                  </a:cubicBezTo>
                  <a:lnTo>
                    <a:pt x="3620188" y="0"/>
                  </a:lnTo>
                  <a:cubicBezTo>
                    <a:pt x="4001170" y="0"/>
                    <a:pt x="4309748" y="227330"/>
                    <a:pt x="4309748" y="508000"/>
                  </a:cubicBezTo>
                  <a:lnTo>
                    <a:pt x="4309748" y="5842000"/>
                  </a:lnTo>
                  <a:cubicBezTo>
                    <a:pt x="4309748" y="6122670"/>
                    <a:pt x="4001170" y="6350000"/>
                    <a:pt x="3620188" y="6350000"/>
                  </a:cubicBezTo>
                  <a:close/>
                </a:path>
              </a:pathLst>
            </a:custGeom>
            <a:blipFill>
              <a:blip r:embed="rId4"/>
              <a:stretch>
                <a:fillRect l="-60505" r="-60505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1641273" y="1209675"/>
            <a:ext cx="5248174" cy="7568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5"/>
              </a:lnSpc>
            </a:pPr>
            <a:r>
              <a:rPr lang="en-US" sz="6200">
                <a:solidFill>
                  <a:srgbClr val="C1FF72"/>
                </a:solidFill>
                <a:latin typeface="Anonymous Pro" panose="02060609030202000504"/>
                <a:ea typeface="Anonymous Pro" panose="02060609030202000504"/>
                <a:cs typeface="Anonymous Pro" panose="02060609030202000504"/>
                <a:sym typeface="Anonymous Pro" panose="02060609030202000504"/>
              </a:rPr>
              <a:t>INTRODUCTION</a:t>
            </a:r>
            <a:endParaRPr lang="en-US" sz="6200">
              <a:solidFill>
                <a:srgbClr val="C1FF72"/>
              </a:solidFill>
              <a:latin typeface="Anonymous Pro" panose="02060609030202000504"/>
              <a:ea typeface="Anonymous Pro" panose="02060609030202000504"/>
              <a:cs typeface="Anonymous Pro" panose="02060609030202000504"/>
              <a:sym typeface="Anonymous Pro" panose="02060609030202000504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209741" y="3383965"/>
            <a:ext cx="7934259" cy="11653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15"/>
              </a:lnSpc>
            </a:pPr>
            <a:r>
              <a:rPr lang="en-US" sz="4655">
                <a:solidFill>
                  <a:srgbClr val="C1FF72"/>
                </a:solidFill>
                <a:latin typeface="Anonymous Pro" panose="02060609030202000504"/>
                <a:ea typeface="Anonymous Pro" panose="02060609030202000504"/>
                <a:cs typeface="Anonymous Pro" panose="02060609030202000504"/>
                <a:sym typeface="Anonymous Pro" panose="02060609030202000504"/>
              </a:rPr>
              <a:t>                   </a:t>
            </a:r>
            <a:endParaRPr lang="en-US" sz="4655">
              <a:solidFill>
                <a:srgbClr val="C1FF72"/>
              </a:solidFill>
              <a:latin typeface="Anonymous Pro" panose="02060609030202000504"/>
              <a:ea typeface="Anonymous Pro" panose="02060609030202000504"/>
              <a:cs typeface="Anonymous Pro" panose="02060609030202000504"/>
              <a:sym typeface="Anonymous Pro" panose="02060609030202000504"/>
            </a:endParaRPr>
          </a:p>
          <a:p>
            <a:pPr algn="ctr">
              <a:lnSpc>
                <a:spcPts val="3435"/>
              </a:lnSpc>
            </a:pPr>
            <a:r>
              <a:rPr lang="en-US" sz="2455">
                <a:solidFill>
                  <a:srgbClr val="C1FF72"/>
                </a:solidFill>
                <a:latin typeface="Anonymous Pro" panose="02060609030202000504"/>
                <a:ea typeface="Anonymous Pro" panose="02060609030202000504"/>
                <a:cs typeface="Anonymous Pro" panose="02060609030202000504"/>
                <a:sym typeface="Anonymous Pro" panose="02060609030202000504"/>
              </a:rPr>
              <a:t>Chatbots are AI-powered tools designed to simulate conversation with users.</a:t>
            </a:r>
            <a:endParaRPr lang="en-US" sz="2455">
              <a:solidFill>
                <a:srgbClr val="C1FF72"/>
              </a:solidFill>
              <a:latin typeface="Anonymous Pro" panose="02060609030202000504"/>
              <a:ea typeface="Anonymous Pro" panose="02060609030202000504"/>
              <a:cs typeface="Anonymous Pro" panose="02060609030202000504"/>
              <a:sym typeface="Anonymous Pro" panose="02060609030202000504"/>
            </a:endParaRPr>
          </a:p>
          <a:p>
            <a:pPr algn="ctr">
              <a:lnSpc>
                <a:spcPts val="3435"/>
              </a:lnSpc>
            </a:pPr>
          </a:p>
          <a:p>
            <a:pPr algn="ctr">
              <a:lnSpc>
                <a:spcPts val="3435"/>
              </a:lnSpc>
            </a:pPr>
            <a:r>
              <a:rPr lang="en-US" sz="2455">
                <a:solidFill>
                  <a:srgbClr val="C1FF72"/>
                </a:solidFill>
                <a:latin typeface="Anonymous Pro" panose="02060609030202000504"/>
                <a:ea typeface="Anonymous Pro" panose="02060609030202000504"/>
                <a:cs typeface="Anonymous Pro" panose="02060609030202000504"/>
                <a:sym typeface="Anonymous Pro" panose="02060609030202000504"/>
              </a:rPr>
              <a:t>This project involves building a Python-based chatbot that uses NLP to understand user inputs and reply meaningfully.</a:t>
            </a:r>
            <a:endParaRPr lang="en-US" sz="2455">
              <a:solidFill>
                <a:srgbClr val="C1FF72"/>
              </a:solidFill>
              <a:latin typeface="Anonymous Pro" panose="02060609030202000504"/>
              <a:ea typeface="Anonymous Pro" panose="02060609030202000504"/>
              <a:cs typeface="Anonymous Pro" panose="02060609030202000504"/>
              <a:sym typeface="Anonymous Pro" panose="02060609030202000504"/>
            </a:endParaRPr>
          </a:p>
          <a:p>
            <a:pPr algn="ctr">
              <a:lnSpc>
                <a:spcPts val="3435"/>
              </a:lnSpc>
            </a:pPr>
          </a:p>
          <a:p>
            <a:pPr algn="ctr">
              <a:lnSpc>
                <a:spcPts val="3435"/>
              </a:lnSpc>
            </a:pPr>
            <a:r>
              <a:rPr lang="en-US" sz="2455">
                <a:solidFill>
                  <a:srgbClr val="C1FF72"/>
                </a:solidFill>
                <a:latin typeface="Anonymous Pro" panose="02060609030202000504"/>
                <a:ea typeface="Anonymous Pro" panose="02060609030202000504"/>
                <a:cs typeface="Anonymous Pro" panose="02060609030202000504"/>
                <a:sym typeface="Anonymous Pro" panose="02060609030202000504"/>
              </a:rPr>
              <a:t>It aims to improve user interaction and automate basic support tasks.</a:t>
            </a:r>
            <a:endParaRPr lang="en-US" sz="2455">
              <a:solidFill>
                <a:srgbClr val="C1FF72"/>
              </a:solidFill>
              <a:latin typeface="Anonymous Pro" panose="02060609030202000504"/>
              <a:ea typeface="Anonymous Pro" panose="02060609030202000504"/>
              <a:cs typeface="Anonymous Pro" panose="02060609030202000504"/>
              <a:sym typeface="Anonymous Pro" panose="02060609030202000504"/>
            </a:endParaRPr>
          </a:p>
          <a:p>
            <a:pPr algn="ctr">
              <a:lnSpc>
                <a:spcPts val="12255"/>
              </a:lnSpc>
            </a:pPr>
          </a:p>
          <a:p>
            <a:pPr algn="ctr">
              <a:lnSpc>
                <a:spcPts val="10855"/>
              </a:lnSpc>
            </a:pPr>
          </a:p>
          <a:p>
            <a:pPr algn="ctr">
              <a:lnSpc>
                <a:spcPts val="10855"/>
              </a:lnSpc>
            </a:pPr>
          </a:p>
          <a:p>
            <a:pPr algn="ctr">
              <a:lnSpc>
                <a:spcPts val="10855"/>
              </a:lnSpc>
            </a:pPr>
          </a:p>
          <a:p>
            <a:pPr algn="ctr">
              <a:lnSpc>
                <a:spcPts val="10855"/>
              </a:lnSpc>
              <a:spcBef>
                <a:spcPct val="0"/>
              </a:spcBef>
            </a:p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 dir="in"/>
      </p:transition>
    </mc:Choice>
    <mc:Fallback>
      <p:transition spd="slow">
        <p:split orient="vert" dir="in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491530" y="1313815"/>
            <a:ext cx="7315200" cy="2433967"/>
          </a:xfrm>
          <a:custGeom>
            <a:avLst/>
            <a:gdLst/>
            <a:ahLst/>
            <a:cxnLst/>
            <a:rect l="l" t="t" r="r" b="b"/>
            <a:pathLst>
              <a:path w="7315200" h="2433967">
                <a:moveTo>
                  <a:pt x="0" y="0"/>
                </a:moveTo>
                <a:lnTo>
                  <a:pt x="7315200" y="0"/>
                </a:lnTo>
                <a:lnTo>
                  <a:pt x="7315200" y="2433966"/>
                </a:lnTo>
                <a:lnTo>
                  <a:pt x="0" y="24339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39379" y="2030100"/>
            <a:ext cx="7315200" cy="8966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80"/>
              </a:lnSpc>
              <a:spcBef>
                <a:spcPct val="0"/>
              </a:spcBef>
            </a:pPr>
            <a:r>
              <a:rPr lang="en-US" sz="5200">
                <a:solidFill>
                  <a:srgbClr val="C1FF72"/>
                </a:solidFill>
                <a:latin typeface="Anonymous Pro" panose="02060609030202000504"/>
                <a:ea typeface="Anonymous Pro" panose="02060609030202000504"/>
                <a:cs typeface="Anonymous Pro" panose="02060609030202000504"/>
                <a:sym typeface="Anonymous Pro" panose="02060609030202000504"/>
              </a:rPr>
              <a:t>PROJECT GOALS</a:t>
            </a:r>
            <a:endParaRPr lang="en-US" sz="5200">
              <a:solidFill>
                <a:srgbClr val="C1FF72"/>
              </a:solidFill>
              <a:latin typeface="Anonymous Pro" panose="02060609030202000504"/>
              <a:ea typeface="Anonymous Pro" panose="02060609030202000504"/>
              <a:cs typeface="Anonymous Pro" panose="02060609030202000504"/>
              <a:sym typeface="Anonymous Pro" panose="02060609030202000504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3449509" y="4293369"/>
            <a:ext cx="12174353" cy="6390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15"/>
              </a:lnSpc>
            </a:pPr>
            <a:r>
              <a:rPr lang="en-US" sz="3010">
                <a:solidFill>
                  <a:srgbClr val="C1FF72"/>
                </a:solidFill>
                <a:latin typeface="Anonymous Pro" panose="02060609030202000504"/>
                <a:ea typeface="Anonymous Pro" panose="02060609030202000504"/>
                <a:cs typeface="Anonymous Pro" panose="02060609030202000504"/>
                <a:sym typeface="Anonymous Pro" panose="02060609030202000504"/>
              </a:rPr>
              <a:t>Develop a chatbot that can engage in real-time conversations.</a:t>
            </a:r>
            <a:endParaRPr lang="en-US" sz="3010">
              <a:solidFill>
                <a:srgbClr val="C1FF72"/>
              </a:solidFill>
              <a:latin typeface="Anonymous Pro" panose="02060609030202000504"/>
              <a:ea typeface="Anonymous Pro" panose="02060609030202000504"/>
              <a:cs typeface="Anonymous Pro" panose="02060609030202000504"/>
              <a:sym typeface="Anonymous Pro" panose="02060609030202000504"/>
            </a:endParaRPr>
          </a:p>
          <a:p>
            <a:pPr algn="ctr">
              <a:lnSpc>
                <a:spcPts val="4215"/>
              </a:lnSpc>
            </a:pPr>
          </a:p>
          <a:p>
            <a:pPr algn="ctr">
              <a:lnSpc>
                <a:spcPts val="4215"/>
              </a:lnSpc>
            </a:pPr>
            <a:r>
              <a:rPr lang="en-US" sz="3010">
                <a:solidFill>
                  <a:srgbClr val="C1FF72"/>
                </a:solidFill>
                <a:latin typeface="Anonymous Pro" panose="02060609030202000504"/>
                <a:ea typeface="Anonymous Pro" panose="02060609030202000504"/>
                <a:cs typeface="Anonymous Pro" panose="02060609030202000504"/>
                <a:sym typeface="Anonymous Pro" panose="02060609030202000504"/>
              </a:rPr>
              <a:t>Use Natural Language Processing (NLP) for understanding text.</a:t>
            </a:r>
            <a:endParaRPr lang="en-US" sz="3010">
              <a:solidFill>
                <a:srgbClr val="C1FF72"/>
              </a:solidFill>
              <a:latin typeface="Anonymous Pro" panose="02060609030202000504"/>
              <a:ea typeface="Anonymous Pro" panose="02060609030202000504"/>
              <a:cs typeface="Anonymous Pro" panose="02060609030202000504"/>
              <a:sym typeface="Anonymous Pro" panose="02060609030202000504"/>
            </a:endParaRPr>
          </a:p>
          <a:p>
            <a:pPr algn="ctr">
              <a:lnSpc>
                <a:spcPts val="4215"/>
              </a:lnSpc>
            </a:pPr>
          </a:p>
          <a:p>
            <a:pPr algn="ctr">
              <a:lnSpc>
                <a:spcPts val="4215"/>
              </a:lnSpc>
            </a:pPr>
            <a:r>
              <a:rPr lang="en-US" sz="3010">
                <a:solidFill>
                  <a:srgbClr val="C1FF72"/>
                </a:solidFill>
                <a:latin typeface="Anonymous Pro" panose="02060609030202000504"/>
                <a:ea typeface="Anonymous Pro" panose="02060609030202000504"/>
                <a:cs typeface="Anonymous Pro" panose="02060609030202000504"/>
                <a:sym typeface="Anonymous Pro" panose="02060609030202000504"/>
              </a:rPr>
              <a:t>Ensure responses are relevant, fast, and context-aware.</a:t>
            </a:r>
            <a:endParaRPr lang="en-US" sz="3010">
              <a:solidFill>
                <a:srgbClr val="C1FF72"/>
              </a:solidFill>
              <a:latin typeface="Anonymous Pro" panose="02060609030202000504"/>
              <a:ea typeface="Anonymous Pro" panose="02060609030202000504"/>
              <a:cs typeface="Anonymous Pro" panose="02060609030202000504"/>
              <a:sym typeface="Anonymous Pro" panose="02060609030202000504"/>
            </a:endParaRPr>
          </a:p>
          <a:p>
            <a:pPr algn="ctr">
              <a:lnSpc>
                <a:spcPts val="4215"/>
              </a:lnSpc>
            </a:pPr>
          </a:p>
          <a:p>
            <a:pPr algn="ctr">
              <a:lnSpc>
                <a:spcPts val="4215"/>
              </a:lnSpc>
            </a:pPr>
            <a:r>
              <a:rPr lang="en-US" sz="3010">
                <a:solidFill>
                  <a:srgbClr val="C1FF72"/>
                </a:solidFill>
                <a:latin typeface="Anonymous Pro" panose="02060609030202000504"/>
                <a:ea typeface="Anonymous Pro" panose="02060609030202000504"/>
                <a:cs typeface="Anonymous Pro" panose="02060609030202000504"/>
                <a:sym typeface="Anonymous Pro" panose="02060609030202000504"/>
              </a:rPr>
              <a:t>Provide a friendly and user-centric interaction experience.</a:t>
            </a:r>
            <a:endParaRPr lang="en-US" sz="3010">
              <a:solidFill>
                <a:srgbClr val="C1FF72"/>
              </a:solidFill>
              <a:latin typeface="Anonymous Pro" panose="02060609030202000504"/>
              <a:ea typeface="Anonymous Pro" panose="02060609030202000504"/>
              <a:cs typeface="Anonymous Pro" panose="02060609030202000504"/>
              <a:sym typeface="Anonymous Pro" panose="02060609030202000504"/>
            </a:endParaRPr>
          </a:p>
          <a:p>
            <a:pPr algn="ctr">
              <a:lnSpc>
                <a:spcPts val="4215"/>
              </a:lnSpc>
            </a:pPr>
          </a:p>
          <a:p>
            <a:pPr algn="ctr">
              <a:lnSpc>
                <a:spcPts val="4215"/>
              </a:lnSpc>
              <a:spcBef>
                <a:spcPct val="0"/>
              </a:spcBef>
            </a:pPr>
            <a:r>
              <a:rPr lang="en-US" sz="3010">
                <a:solidFill>
                  <a:srgbClr val="C1FF72"/>
                </a:solidFill>
                <a:latin typeface="Anonymous Pro" panose="02060609030202000504"/>
                <a:ea typeface="Anonymous Pro" panose="02060609030202000504"/>
                <a:cs typeface="Anonymous Pro" panose="02060609030202000504"/>
                <a:sym typeface="Anonymous Pro" panose="02060609030202000504"/>
              </a:rPr>
              <a:t>                         </a:t>
            </a:r>
            <a:endParaRPr lang="en-US" sz="3010">
              <a:solidFill>
                <a:srgbClr val="C1FF72"/>
              </a:solidFill>
              <a:latin typeface="Anonymous Pro" panose="02060609030202000504"/>
              <a:ea typeface="Anonymous Pro" panose="02060609030202000504"/>
              <a:cs typeface="Anonymous Pro" panose="02060609030202000504"/>
              <a:sym typeface="Anonymous Pro" panose="020606090302020005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 dir="in"/>
      </p:transition>
    </mc:Choice>
    <mc:Fallback>
      <p:transition spd="slow">
        <p:split orient="vert" dir="in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437609" y="1962035"/>
            <a:ext cx="15412783" cy="9687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50"/>
              </a:lnSpc>
            </a:pPr>
            <a:r>
              <a:rPr lang="en-US" sz="7900">
                <a:solidFill>
                  <a:srgbClr val="C1FF72"/>
                </a:solidFill>
                <a:latin typeface="Anonymous Pro" panose="02060609030202000504"/>
                <a:ea typeface="Anonymous Pro" panose="02060609030202000504"/>
                <a:cs typeface="Anonymous Pro" panose="02060609030202000504"/>
                <a:sym typeface="Anonymous Pro" panose="02060609030202000504"/>
              </a:rPr>
              <a:t>TOOLS AND TECHNOLOGIES</a:t>
            </a:r>
            <a:endParaRPr lang="en-US" sz="7900">
              <a:solidFill>
                <a:srgbClr val="C1FF72"/>
              </a:solidFill>
              <a:latin typeface="Anonymous Pro" panose="02060609030202000504"/>
              <a:ea typeface="Anonymous Pro" panose="02060609030202000504"/>
              <a:cs typeface="Anonymous Pro" panose="02060609030202000504"/>
              <a:sym typeface="Anonymous Pro" panose="02060609030202000504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2717975" y="3814461"/>
            <a:ext cx="10677525" cy="54438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C1FF72"/>
                </a:solidFill>
                <a:latin typeface="Anonymous Pro" panose="02060609030202000504"/>
                <a:ea typeface="Anonymous Pro" panose="02060609030202000504"/>
                <a:cs typeface="Anonymous Pro" panose="02060609030202000504"/>
                <a:sym typeface="Anonymous Pro" panose="02060609030202000504"/>
              </a:rPr>
              <a:t>   PROGRAMMING LANGUAGE: PYTHON</a:t>
            </a:r>
            <a:endParaRPr lang="en-US" sz="2800">
              <a:solidFill>
                <a:srgbClr val="C1FF72"/>
              </a:solidFill>
              <a:latin typeface="Anonymous Pro" panose="02060609030202000504"/>
              <a:ea typeface="Anonymous Pro" panose="02060609030202000504"/>
              <a:cs typeface="Anonymous Pro" panose="02060609030202000504"/>
              <a:sym typeface="Anonymous Pro" panose="02060609030202000504"/>
            </a:endParaRPr>
          </a:p>
          <a:p>
            <a:pPr algn="ctr">
              <a:lnSpc>
                <a:spcPts val="3920"/>
              </a:lnSpc>
            </a:pPr>
          </a:p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C1FF72"/>
                </a:solidFill>
                <a:latin typeface="Anonymous Pro" panose="02060609030202000504"/>
                <a:ea typeface="Anonymous Pro" panose="02060609030202000504"/>
                <a:cs typeface="Anonymous Pro" panose="02060609030202000504"/>
                <a:sym typeface="Anonymous Pro" panose="02060609030202000504"/>
              </a:rPr>
              <a:t>NLP LIBRARIES: NLTK, SPACY</a:t>
            </a:r>
            <a:endParaRPr lang="en-US" sz="2800">
              <a:solidFill>
                <a:srgbClr val="C1FF72"/>
              </a:solidFill>
              <a:latin typeface="Anonymous Pro" panose="02060609030202000504"/>
              <a:ea typeface="Anonymous Pro" panose="02060609030202000504"/>
              <a:cs typeface="Anonymous Pro" panose="02060609030202000504"/>
              <a:sym typeface="Anonymous Pro" panose="02060609030202000504"/>
            </a:endParaRPr>
          </a:p>
          <a:p>
            <a:pPr algn="ctr">
              <a:lnSpc>
                <a:spcPts val="3920"/>
              </a:lnSpc>
            </a:pPr>
          </a:p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C1FF72"/>
                </a:solidFill>
                <a:latin typeface="Anonymous Pro" panose="02060609030202000504"/>
                <a:ea typeface="Anonymous Pro" panose="02060609030202000504"/>
                <a:cs typeface="Anonymous Pro" panose="02060609030202000504"/>
                <a:sym typeface="Anonymous Pro" panose="02060609030202000504"/>
              </a:rPr>
              <a:t>DEVELOPMENT TOOLS: VISUAL STUDIO CODE, JUPYTER NOTEBOOK</a:t>
            </a:r>
            <a:endParaRPr lang="en-US" sz="2800">
              <a:solidFill>
                <a:srgbClr val="C1FF72"/>
              </a:solidFill>
              <a:latin typeface="Anonymous Pro" panose="02060609030202000504"/>
              <a:ea typeface="Anonymous Pro" panose="02060609030202000504"/>
              <a:cs typeface="Anonymous Pro" panose="02060609030202000504"/>
              <a:sym typeface="Anonymous Pro" panose="02060609030202000504"/>
            </a:endParaRPr>
          </a:p>
          <a:p>
            <a:pPr algn="ctr">
              <a:lnSpc>
                <a:spcPts val="3920"/>
              </a:lnSpc>
            </a:pPr>
          </a:p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C1FF72"/>
                </a:solidFill>
                <a:latin typeface="Anonymous Pro" panose="02060609030202000504"/>
                <a:ea typeface="Anonymous Pro" panose="02060609030202000504"/>
                <a:cs typeface="Anonymous Pro" panose="02060609030202000504"/>
                <a:sym typeface="Anonymous Pro" panose="02060609030202000504"/>
              </a:rPr>
              <a:t>FRAMEWORKS: FLASK / STREAMLIT FOR WEB DEPLOYMENT</a:t>
            </a:r>
            <a:endParaRPr lang="en-US" sz="2800">
              <a:solidFill>
                <a:srgbClr val="C1FF72"/>
              </a:solidFill>
              <a:latin typeface="Anonymous Pro" panose="02060609030202000504"/>
              <a:ea typeface="Anonymous Pro" panose="02060609030202000504"/>
              <a:cs typeface="Anonymous Pro" panose="02060609030202000504"/>
              <a:sym typeface="Anonymous Pro" panose="02060609030202000504"/>
            </a:endParaRPr>
          </a:p>
          <a:p>
            <a:pPr algn="ctr">
              <a:lnSpc>
                <a:spcPts val="3920"/>
              </a:lnSpc>
            </a:pPr>
          </a:p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C1FF72"/>
                </a:solidFill>
                <a:latin typeface="Anonymous Pro" panose="02060609030202000504"/>
                <a:ea typeface="Anonymous Pro" panose="02060609030202000504"/>
                <a:cs typeface="Anonymous Pro" panose="02060609030202000504"/>
                <a:sym typeface="Anonymous Pro" panose="02060609030202000504"/>
              </a:rPr>
              <a:t>DATASETS: CHATTERBOT CORPUS, CUSTOM INTENTS</a:t>
            </a:r>
            <a:endParaRPr lang="en-US" sz="2800">
              <a:solidFill>
                <a:srgbClr val="C1FF72"/>
              </a:solidFill>
              <a:latin typeface="Anonymous Pro" panose="02060609030202000504"/>
              <a:ea typeface="Anonymous Pro" panose="02060609030202000504"/>
              <a:cs typeface="Anonymous Pro" panose="02060609030202000504"/>
              <a:sym typeface="Anonymous Pro" panose="02060609030202000504"/>
            </a:endParaRPr>
          </a:p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C1FF72"/>
                </a:solidFill>
                <a:latin typeface="Anonymous Pro" panose="02060609030202000504"/>
                <a:ea typeface="Anonymous Pro" panose="02060609030202000504"/>
                <a:cs typeface="Anonymous Pro" panose="02060609030202000504"/>
                <a:sym typeface="Anonymous Pro" panose="02060609030202000504"/>
              </a:rPr>
              <a:t> </a:t>
            </a:r>
            <a:endParaRPr lang="en-US" sz="2800">
              <a:solidFill>
                <a:srgbClr val="C1FF72"/>
              </a:solidFill>
              <a:latin typeface="Anonymous Pro" panose="02060609030202000504"/>
              <a:ea typeface="Anonymous Pro" panose="02060609030202000504"/>
              <a:cs typeface="Anonymous Pro" panose="02060609030202000504"/>
              <a:sym typeface="Anonymous Pro" panose="02060609030202000504"/>
            </a:endParaRPr>
          </a:p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C1FF72"/>
                </a:solidFill>
                <a:latin typeface="Anonymous Pro" panose="02060609030202000504"/>
                <a:ea typeface="Anonymous Pro" panose="02060609030202000504"/>
                <a:cs typeface="Anonymous Pro" panose="02060609030202000504"/>
                <a:sym typeface="Anonymous Pro" panose="02060609030202000504"/>
              </a:rPr>
              <a:t>                     </a:t>
            </a:r>
            <a:endParaRPr lang="en-US" sz="2800">
              <a:solidFill>
                <a:srgbClr val="C1FF72"/>
              </a:solidFill>
              <a:latin typeface="Anonymous Pro" panose="02060609030202000504"/>
              <a:ea typeface="Anonymous Pro" panose="02060609030202000504"/>
              <a:cs typeface="Anonymous Pro" panose="02060609030202000504"/>
              <a:sym typeface="Anonymous Pro" panose="020606090302020005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 dir="in"/>
      </p:transition>
    </mc:Choice>
    <mc:Fallback>
      <p:transition spd="slow">
        <p:split orient="vert" dir="in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744363" y="2230798"/>
            <a:ext cx="11771422" cy="7665810"/>
          </a:xfrm>
          <a:custGeom>
            <a:avLst/>
            <a:gdLst/>
            <a:ahLst/>
            <a:cxnLst/>
            <a:rect l="l" t="t" r="r" b="b"/>
            <a:pathLst>
              <a:path w="11771422" h="7665810">
                <a:moveTo>
                  <a:pt x="0" y="0"/>
                </a:moveTo>
                <a:lnTo>
                  <a:pt x="11771422" y="0"/>
                </a:lnTo>
                <a:lnTo>
                  <a:pt x="11771422" y="7665810"/>
                </a:lnTo>
                <a:lnTo>
                  <a:pt x="0" y="76658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153" b="-1153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868596" y="632779"/>
            <a:ext cx="5332267" cy="7061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05"/>
              </a:lnSpc>
              <a:spcBef>
                <a:spcPct val="0"/>
              </a:spcBef>
            </a:pPr>
            <a:r>
              <a:rPr lang="en-US" sz="4075" b="1">
                <a:solidFill>
                  <a:srgbClr val="C1FF72"/>
                </a:solidFill>
                <a:latin typeface="Anonymous Pro Bold" panose="02060809030202000504"/>
                <a:ea typeface="Anonymous Pro Bold" panose="02060809030202000504"/>
                <a:cs typeface="Anonymous Pro Bold" panose="02060809030202000504"/>
                <a:sym typeface="Anonymous Pro Bold" panose="02060809030202000504"/>
              </a:rPr>
              <a:t>DFD</a:t>
            </a:r>
            <a:endParaRPr lang="en-US" sz="4075" b="1">
              <a:solidFill>
                <a:srgbClr val="C1FF72"/>
              </a:solidFill>
              <a:latin typeface="Anonymous Pro Bold" panose="02060809030202000504"/>
              <a:ea typeface="Anonymous Pro Bold" panose="02060809030202000504"/>
              <a:cs typeface="Anonymous Pro Bold" panose="02060809030202000504"/>
              <a:sym typeface="Anonymous Pro Bold" panose="020608090302020005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 dir="in"/>
      </p:transition>
    </mc:Choice>
    <mc:Fallback>
      <p:transition spd="slow">
        <p:split orient="vert" dir="in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719646" y="2037549"/>
            <a:ext cx="7903536" cy="1023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05"/>
              </a:lnSpc>
            </a:pPr>
            <a:r>
              <a:rPr lang="en-US" sz="8300">
                <a:solidFill>
                  <a:srgbClr val="C1FF72"/>
                </a:solidFill>
                <a:latin typeface="Anonymous Pro" panose="02060609030202000504"/>
                <a:ea typeface="Anonymous Pro" panose="02060609030202000504"/>
                <a:cs typeface="Anonymous Pro" panose="02060609030202000504"/>
                <a:sym typeface="Anonymous Pro" panose="02060609030202000504"/>
              </a:rPr>
              <a:t>KEY FEATURES</a:t>
            </a:r>
            <a:endParaRPr lang="en-US" sz="8300">
              <a:solidFill>
                <a:srgbClr val="C1FF72"/>
              </a:solidFill>
              <a:latin typeface="Anonymous Pro" panose="02060609030202000504"/>
              <a:ea typeface="Anonymous Pro" panose="02060609030202000504"/>
              <a:cs typeface="Anonymous Pro" panose="02060609030202000504"/>
              <a:sym typeface="Anonymous Pro" panose="02060609030202000504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-2847713" y="3743394"/>
            <a:ext cx="19629185" cy="52279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15"/>
              </a:lnSpc>
            </a:pPr>
            <a:r>
              <a:rPr lang="en-US" sz="2725">
                <a:solidFill>
                  <a:srgbClr val="C1FF72"/>
                </a:solidFill>
                <a:latin typeface="Anonymous Pro" panose="02060609030202000504"/>
                <a:ea typeface="Anonymous Pro" panose="02060609030202000504"/>
                <a:cs typeface="Anonymous Pro" panose="02060609030202000504"/>
                <a:sym typeface="Anonymous Pro" panose="02060609030202000504"/>
              </a:rPr>
              <a:t> Understands basic intents (greetings, help, etc.)</a:t>
            </a:r>
            <a:endParaRPr lang="en-US" sz="2725">
              <a:solidFill>
                <a:srgbClr val="C1FF72"/>
              </a:solidFill>
              <a:latin typeface="Anonymous Pro" panose="02060609030202000504"/>
              <a:ea typeface="Anonymous Pro" panose="02060609030202000504"/>
              <a:cs typeface="Anonymous Pro" panose="02060609030202000504"/>
              <a:sym typeface="Anonymous Pro" panose="02060609030202000504"/>
            </a:endParaRPr>
          </a:p>
          <a:p>
            <a:pPr algn="ctr">
              <a:lnSpc>
                <a:spcPts val="3815"/>
              </a:lnSpc>
            </a:pPr>
          </a:p>
          <a:p>
            <a:pPr algn="ctr">
              <a:lnSpc>
                <a:spcPts val="3815"/>
              </a:lnSpc>
            </a:pPr>
            <a:r>
              <a:rPr lang="en-US" sz="2725">
                <a:solidFill>
                  <a:srgbClr val="C1FF72"/>
                </a:solidFill>
                <a:latin typeface="Anonymous Pro" panose="02060609030202000504"/>
                <a:ea typeface="Anonymous Pro" panose="02060609030202000504"/>
                <a:cs typeface="Anonymous Pro" panose="02060609030202000504"/>
                <a:sym typeface="Anonymous Pro" panose="02060609030202000504"/>
              </a:rPr>
              <a:t>fast response</a:t>
            </a:r>
            <a:endParaRPr lang="en-US" sz="2725">
              <a:solidFill>
                <a:srgbClr val="C1FF72"/>
              </a:solidFill>
              <a:latin typeface="Anonymous Pro" panose="02060609030202000504"/>
              <a:ea typeface="Anonymous Pro" panose="02060609030202000504"/>
              <a:cs typeface="Anonymous Pro" panose="02060609030202000504"/>
              <a:sym typeface="Anonymous Pro" panose="02060609030202000504"/>
            </a:endParaRPr>
          </a:p>
          <a:p>
            <a:pPr algn="ctr">
              <a:lnSpc>
                <a:spcPts val="3815"/>
              </a:lnSpc>
            </a:pPr>
          </a:p>
          <a:p>
            <a:pPr algn="ctr">
              <a:lnSpc>
                <a:spcPts val="3815"/>
              </a:lnSpc>
            </a:pPr>
            <a:r>
              <a:rPr lang="en-US" sz="2725">
                <a:solidFill>
                  <a:srgbClr val="C1FF72"/>
                </a:solidFill>
                <a:latin typeface="Anonymous Pro" panose="02060609030202000504"/>
                <a:ea typeface="Anonymous Pro" panose="02060609030202000504"/>
                <a:cs typeface="Anonymous Pro" panose="02060609030202000504"/>
                <a:sym typeface="Anonymous Pro" panose="02060609030202000504"/>
              </a:rPr>
              <a:t>Modular design for easy improvement</a:t>
            </a:r>
            <a:endParaRPr lang="en-US" sz="2725">
              <a:solidFill>
                <a:srgbClr val="C1FF72"/>
              </a:solidFill>
              <a:latin typeface="Anonymous Pro" panose="02060609030202000504"/>
              <a:ea typeface="Anonymous Pro" panose="02060609030202000504"/>
              <a:cs typeface="Anonymous Pro" panose="02060609030202000504"/>
              <a:sym typeface="Anonymous Pro" panose="02060609030202000504"/>
            </a:endParaRPr>
          </a:p>
          <a:p>
            <a:pPr algn="ctr">
              <a:lnSpc>
                <a:spcPts val="3815"/>
              </a:lnSpc>
            </a:pPr>
          </a:p>
          <a:p>
            <a:pPr algn="ctr">
              <a:lnSpc>
                <a:spcPts val="3815"/>
              </a:lnSpc>
            </a:pPr>
            <a:r>
              <a:rPr lang="en-US" sz="2725">
                <a:solidFill>
                  <a:srgbClr val="C1FF72"/>
                </a:solidFill>
                <a:latin typeface="Anonymous Pro" panose="02060609030202000504"/>
                <a:ea typeface="Anonymous Pro" panose="02060609030202000504"/>
                <a:cs typeface="Anonymous Pro" panose="02060609030202000504"/>
                <a:sym typeface="Anonymous Pro" panose="02060609030202000504"/>
              </a:rPr>
              <a:t>Friendly and conversational tone</a:t>
            </a:r>
            <a:endParaRPr lang="en-US" sz="2725">
              <a:solidFill>
                <a:srgbClr val="C1FF72"/>
              </a:solidFill>
              <a:latin typeface="Anonymous Pro" panose="02060609030202000504"/>
              <a:ea typeface="Anonymous Pro" panose="02060609030202000504"/>
              <a:cs typeface="Anonymous Pro" panose="02060609030202000504"/>
              <a:sym typeface="Anonymous Pro" panose="02060609030202000504"/>
            </a:endParaRPr>
          </a:p>
          <a:p>
            <a:pPr algn="ctr">
              <a:lnSpc>
                <a:spcPts val="3815"/>
              </a:lnSpc>
            </a:pPr>
          </a:p>
          <a:p>
            <a:pPr algn="ctr">
              <a:lnSpc>
                <a:spcPts val="3815"/>
              </a:lnSpc>
            </a:pPr>
            <a:r>
              <a:rPr lang="en-US" sz="2725">
                <a:solidFill>
                  <a:srgbClr val="C1FF72"/>
                </a:solidFill>
                <a:latin typeface="Anonymous Pro" panose="02060609030202000504"/>
                <a:ea typeface="Anonymous Pro" panose="02060609030202000504"/>
                <a:cs typeface="Anonymous Pro" panose="02060609030202000504"/>
                <a:sym typeface="Anonymous Pro" panose="02060609030202000504"/>
              </a:rPr>
              <a:t>Works on both terminal and web interface</a:t>
            </a:r>
            <a:endParaRPr lang="en-US" sz="2725">
              <a:solidFill>
                <a:srgbClr val="C1FF72"/>
              </a:solidFill>
              <a:latin typeface="Anonymous Pro" panose="02060609030202000504"/>
              <a:ea typeface="Anonymous Pro" panose="02060609030202000504"/>
              <a:cs typeface="Anonymous Pro" panose="02060609030202000504"/>
              <a:sym typeface="Anonymous Pro" panose="02060609030202000504"/>
            </a:endParaRPr>
          </a:p>
          <a:p>
            <a:pPr algn="ctr">
              <a:lnSpc>
                <a:spcPts val="3815"/>
              </a:lnSpc>
            </a:pPr>
          </a:p>
          <a:p>
            <a:pPr algn="ctr">
              <a:lnSpc>
                <a:spcPts val="3675"/>
              </a:lnSpc>
              <a:spcBef>
                <a:spcPct val="0"/>
              </a:spcBef>
            </a:pPr>
            <a:r>
              <a:rPr lang="en-US" sz="2625">
                <a:solidFill>
                  <a:srgbClr val="C1FF72"/>
                </a:solidFill>
                <a:latin typeface="Anonymous Pro" panose="02060609030202000504"/>
                <a:ea typeface="Anonymous Pro" panose="02060609030202000504"/>
                <a:cs typeface="Anonymous Pro" panose="02060609030202000504"/>
                <a:sym typeface="Anonymous Pro" panose="02060609030202000504"/>
              </a:rPr>
              <a:t>                   </a:t>
            </a:r>
            <a:endParaRPr lang="en-US" sz="2625">
              <a:solidFill>
                <a:srgbClr val="C1FF72"/>
              </a:solidFill>
              <a:latin typeface="Anonymous Pro" panose="02060609030202000504"/>
              <a:ea typeface="Anonymous Pro" panose="02060609030202000504"/>
              <a:cs typeface="Anonymous Pro" panose="02060609030202000504"/>
              <a:sym typeface="Anonymous Pro" panose="020606090302020005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 dir="in"/>
      </p:transition>
    </mc:Choice>
    <mc:Fallback>
      <p:transition spd="slow">
        <p:split orient="vert" dir="in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807947" y="1755397"/>
            <a:ext cx="8048510" cy="1023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05"/>
              </a:lnSpc>
            </a:pPr>
            <a:r>
              <a:rPr lang="en-US" sz="8300">
                <a:solidFill>
                  <a:srgbClr val="C1FF72"/>
                </a:solidFill>
                <a:latin typeface="Anonymous Pro" panose="02060609030202000504"/>
                <a:ea typeface="Anonymous Pro" panose="02060609030202000504"/>
                <a:cs typeface="Anonymous Pro" panose="02060609030202000504"/>
                <a:sym typeface="Anonymous Pro" panose="02060609030202000504"/>
              </a:rPr>
              <a:t>APPLICATIONS</a:t>
            </a:r>
            <a:endParaRPr lang="en-US" sz="8300">
              <a:solidFill>
                <a:srgbClr val="C1FF72"/>
              </a:solidFill>
              <a:latin typeface="Anonymous Pro" panose="02060609030202000504"/>
              <a:ea typeface="Anonymous Pro" panose="02060609030202000504"/>
              <a:cs typeface="Anonymous Pro" panose="02060609030202000504"/>
              <a:sym typeface="Anonymous Pro" panose="02060609030202000504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2044104" y="3755674"/>
            <a:ext cx="12576572" cy="4554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70"/>
              </a:lnSpc>
              <a:spcBef>
                <a:spcPct val="0"/>
              </a:spcBef>
            </a:pPr>
            <a:r>
              <a:rPr lang="en-US" sz="2980" b="1">
                <a:solidFill>
                  <a:srgbClr val="C1FF72"/>
                </a:solidFill>
                <a:latin typeface="Anonymous Pro Bold" panose="02060809030202000504"/>
                <a:ea typeface="Anonymous Pro Bold" panose="02060809030202000504"/>
                <a:cs typeface="Anonymous Pro Bold" panose="02060809030202000504"/>
                <a:sym typeface="Anonymous Pro Bold" panose="02060809030202000504"/>
              </a:rPr>
              <a:t>Customer Support:</a:t>
            </a:r>
            <a:r>
              <a:rPr lang="en-US" sz="2980">
                <a:solidFill>
                  <a:srgbClr val="C1FF72"/>
                </a:solidFill>
                <a:latin typeface="Anonymous Pro" panose="02060609030202000504"/>
                <a:ea typeface="Anonymous Pro" panose="02060609030202000504"/>
                <a:cs typeface="Anonymous Pro" panose="02060609030202000504"/>
                <a:sym typeface="Anonymous Pro" panose="02060609030202000504"/>
              </a:rPr>
              <a:t> Automate FAQs and live chat for websites</a:t>
            </a:r>
            <a:endParaRPr lang="en-US" sz="2980">
              <a:solidFill>
                <a:srgbClr val="C1FF72"/>
              </a:solidFill>
              <a:latin typeface="Anonymous Pro" panose="02060609030202000504"/>
              <a:ea typeface="Anonymous Pro" panose="02060609030202000504"/>
              <a:cs typeface="Anonymous Pro" panose="02060609030202000504"/>
              <a:sym typeface="Anonymous Pro" panose="02060609030202000504"/>
            </a:endParaRPr>
          </a:p>
          <a:p>
            <a:pPr algn="ctr">
              <a:lnSpc>
                <a:spcPts val="4030"/>
              </a:lnSpc>
              <a:spcBef>
                <a:spcPct val="0"/>
              </a:spcBef>
            </a:pPr>
          </a:p>
          <a:p>
            <a:pPr algn="ctr">
              <a:lnSpc>
                <a:spcPts val="4030"/>
              </a:lnSpc>
              <a:spcBef>
                <a:spcPct val="0"/>
              </a:spcBef>
            </a:pPr>
            <a:r>
              <a:rPr lang="en-US" sz="2880" b="1">
                <a:solidFill>
                  <a:srgbClr val="C1FF72"/>
                </a:solidFill>
                <a:latin typeface="Anonymous Pro Bold" panose="02060809030202000504"/>
                <a:ea typeface="Anonymous Pro Bold" panose="02060809030202000504"/>
                <a:cs typeface="Anonymous Pro Bold" panose="02060809030202000504"/>
                <a:sym typeface="Anonymous Pro Bold" panose="02060809030202000504"/>
              </a:rPr>
              <a:t>Education: </a:t>
            </a:r>
            <a:r>
              <a:rPr lang="en-US" sz="2880">
                <a:solidFill>
                  <a:srgbClr val="C1FF72"/>
                </a:solidFill>
                <a:latin typeface="Anonymous Pro" panose="02060609030202000504"/>
                <a:ea typeface="Anonymous Pro" panose="02060609030202000504"/>
                <a:cs typeface="Anonymous Pro" panose="02060609030202000504"/>
                <a:sym typeface="Anonymous Pro" panose="02060609030202000504"/>
              </a:rPr>
              <a:t>Virtual tutoring or answering common student queries</a:t>
            </a:r>
            <a:endParaRPr lang="en-US" sz="2880">
              <a:solidFill>
                <a:srgbClr val="C1FF72"/>
              </a:solidFill>
              <a:latin typeface="Anonymous Pro" panose="02060609030202000504"/>
              <a:ea typeface="Anonymous Pro" panose="02060609030202000504"/>
              <a:cs typeface="Anonymous Pro" panose="02060609030202000504"/>
              <a:sym typeface="Anonymous Pro" panose="02060609030202000504"/>
            </a:endParaRPr>
          </a:p>
          <a:p>
            <a:pPr algn="ctr">
              <a:lnSpc>
                <a:spcPts val="4030"/>
              </a:lnSpc>
              <a:spcBef>
                <a:spcPct val="0"/>
              </a:spcBef>
            </a:pPr>
          </a:p>
          <a:p>
            <a:pPr algn="ctr">
              <a:lnSpc>
                <a:spcPts val="4030"/>
              </a:lnSpc>
              <a:spcBef>
                <a:spcPct val="0"/>
              </a:spcBef>
            </a:pPr>
            <a:r>
              <a:rPr lang="en-US" sz="2880" b="1">
                <a:solidFill>
                  <a:srgbClr val="C1FF72"/>
                </a:solidFill>
                <a:latin typeface="Anonymous Pro Bold" panose="02060809030202000504"/>
                <a:ea typeface="Anonymous Pro Bold" panose="02060809030202000504"/>
                <a:cs typeface="Anonymous Pro Bold" panose="02060809030202000504"/>
                <a:sym typeface="Anonymous Pro Bold" panose="02060809030202000504"/>
              </a:rPr>
              <a:t>Healthcare:</a:t>
            </a:r>
            <a:r>
              <a:rPr lang="en-US" sz="2880">
                <a:solidFill>
                  <a:srgbClr val="C1FF72"/>
                </a:solidFill>
                <a:latin typeface="Anonymous Pro" panose="02060609030202000504"/>
                <a:ea typeface="Anonymous Pro" panose="02060609030202000504"/>
                <a:cs typeface="Anonymous Pro" panose="02060609030202000504"/>
                <a:sym typeface="Anonymous Pro" panose="02060609030202000504"/>
              </a:rPr>
              <a:t> Initial symptom checking or appointment scheduling</a:t>
            </a:r>
            <a:endParaRPr lang="en-US" sz="2880">
              <a:solidFill>
                <a:srgbClr val="C1FF72"/>
              </a:solidFill>
              <a:latin typeface="Anonymous Pro" panose="02060609030202000504"/>
              <a:ea typeface="Anonymous Pro" panose="02060609030202000504"/>
              <a:cs typeface="Anonymous Pro" panose="02060609030202000504"/>
              <a:sym typeface="Anonymous Pro" panose="02060609030202000504"/>
            </a:endParaRPr>
          </a:p>
          <a:p>
            <a:pPr algn="ctr">
              <a:lnSpc>
                <a:spcPts val="4030"/>
              </a:lnSpc>
              <a:spcBef>
                <a:spcPct val="0"/>
              </a:spcBef>
            </a:pPr>
          </a:p>
          <a:p>
            <a:pPr algn="ctr">
              <a:lnSpc>
                <a:spcPts val="4030"/>
              </a:lnSpc>
              <a:spcBef>
                <a:spcPct val="0"/>
              </a:spcBef>
            </a:pPr>
            <a:r>
              <a:rPr lang="en-US" sz="2880" b="1">
                <a:solidFill>
                  <a:srgbClr val="C1FF72"/>
                </a:solidFill>
                <a:latin typeface="Anonymous Pro Bold" panose="02060809030202000504"/>
                <a:ea typeface="Anonymous Pro Bold" panose="02060809030202000504"/>
                <a:cs typeface="Anonymous Pro Bold" panose="02060809030202000504"/>
                <a:sym typeface="Anonymous Pro Bold" panose="02060809030202000504"/>
              </a:rPr>
              <a:t>E-commerce:</a:t>
            </a:r>
            <a:r>
              <a:rPr lang="en-US" sz="2880">
                <a:solidFill>
                  <a:srgbClr val="C1FF72"/>
                </a:solidFill>
                <a:latin typeface="Anonymous Pro" panose="02060609030202000504"/>
                <a:ea typeface="Anonymous Pro" panose="02060609030202000504"/>
                <a:cs typeface="Anonymous Pro" panose="02060609030202000504"/>
                <a:sym typeface="Anonymous Pro" panose="02060609030202000504"/>
              </a:rPr>
              <a:t> Product recommendations and order tracking</a:t>
            </a:r>
            <a:endParaRPr lang="en-US" sz="2880">
              <a:solidFill>
                <a:srgbClr val="C1FF72"/>
              </a:solidFill>
              <a:latin typeface="Anonymous Pro" panose="02060609030202000504"/>
              <a:ea typeface="Anonymous Pro" panose="02060609030202000504"/>
              <a:cs typeface="Anonymous Pro" panose="02060609030202000504"/>
              <a:sym typeface="Anonymous Pro" panose="02060609030202000504"/>
            </a:endParaRPr>
          </a:p>
          <a:p>
            <a:pPr algn="ctr">
              <a:lnSpc>
                <a:spcPts val="4030"/>
              </a:lnSpc>
              <a:spcBef>
                <a:spcPct val="0"/>
              </a:spcBef>
            </a:pPr>
          </a:p>
          <a:p>
            <a:pPr algn="ctr">
              <a:lnSpc>
                <a:spcPts val="4030"/>
              </a:lnSpc>
              <a:spcBef>
                <a:spcPct val="0"/>
              </a:spcBef>
            </a:pPr>
            <a:r>
              <a:rPr lang="en-US" sz="2880" b="1">
                <a:solidFill>
                  <a:srgbClr val="C1FF72"/>
                </a:solidFill>
                <a:latin typeface="Anonymous Pro Bold" panose="02060809030202000504"/>
                <a:ea typeface="Anonymous Pro Bold" panose="02060809030202000504"/>
                <a:cs typeface="Anonymous Pro Bold" panose="02060809030202000504"/>
                <a:sym typeface="Anonymous Pro Bold" panose="02060809030202000504"/>
              </a:rPr>
              <a:t>Entertainment: </a:t>
            </a:r>
            <a:r>
              <a:rPr lang="en-US" sz="2880">
                <a:solidFill>
                  <a:srgbClr val="C1FF72"/>
                </a:solidFill>
                <a:latin typeface="Anonymous Pro" panose="02060609030202000504"/>
                <a:ea typeface="Anonymous Pro" panose="02060609030202000504"/>
                <a:cs typeface="Anonymous Pro" panose="02060609030202000504"/>
                <a:sym typeface="Anonymous Pro" panose="02060609030202000504"/>
              </a:rPr>
              <a:t>Fun, interactive chat and games</a:t>
            </a:r>
            <a:endParaRPr lang="en-US" sz="2880">
              <a:solidFill>
                <a:srgbClr val="C1FF72"/>
              </a:solidFill>
              <a:latin typeface="Anonymous Pro" panose="02060609030202000504"/>
              <a:ea typeface="Anonymous Pro" panose="02060609030202000504"/>
              <a:cs typeface="Anonymous Pro" panose="02060609030202000504"/>
              <a:sym typeface="Anonymous Pro" panose="020606090302020005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 dir="in"/>
      </p:transition>
    </mc:Choice>
    <mc:Fallback>
      <p:transition spd="slow">
        <p:split orient="vert" dir="in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480519" y="1553950"/>
            <a:ext cx="7315200" cy="2433967"/>
          </a:xfrm>
          <a:custGeom>
            <a:avLst/>
            <a:gdLst/>
            <a:ahLst/>
            <a:cxnLst/>
            <a:rect l="l" t="t" r="r" b="b"/>
            <a:pathLst>
              <a:path w="7315200" h="2433967">
                <a:moveTo>
                  <a:pt x="0" y="0"/>
                </a:moveTo>
                <a:lnTo>
                  <a:pt x="7315200" y="0"/>
                </a:lnTo>
                <a:lnTo>
                  <a:pt x="7315200" y="2433966"/>
                </a:lnTo>
                <a:lnTo>
                  <a:pt x="0" y="24339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 rot="0">
            <a:off x="1028700" y="2399132"/>
            <a:ext cx="5685609" cy="5139790"/>
            <a:chOff x="0" y="0"/>
            <a:chExt cx="6350000" cy="57404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351270" cy="5741670"/>
            </a:xfrm>
            <a:custGeom>
              <a:avLst/>
              <a:gdLst/>
              <a:ahLst/>
              <a:cxnLst/>
              <a:rect l="l" t="t" r="r" b="b"/>
              <a:pathLst>
                <a:path w="6351270" h="5741670">
                  <a:moveTo>
                    <a:pt x="0" y="542290"/>
                  </a:moveTo>
                  <a:lnTo>
                    <a:pt x="0" y="2392680"/>
                  </a:lnTo>
                  <a:cubicBezTo>
                    <a:pt x="0" y="2691130"/>
                    <a:pt x="242570" y="2933700"/>
                    <a:pt x="542290" y="2933700"/>
                  </a:cubicBezTo>
                  <a:lnTo>
                    <a:pt x="1148080" y="2933700"/>
                  </a:lnTo>
                  <a:cubicBezTo>
                    <a:pt x="1447800" y="2933700"/>
                    <a:pt x="1690370" y="3176270"/>
                    <a:pt x="1690370" y="3475990"/>
                  </a:cubicBezTo>
                  <a:lnTo>
                    <a:pt x="1690370" y="5199380"/>
                  </a:lnTo>
                  <a:cubicBezTo>
                    <a:pt x="1690370" y="5499100"/>
                    <a:pt x="1932940" y="5741670"/>
                    <a:pt x="2232660" y="5741670"/>
                  </a:cubicBezTo>
                  <a:lnTo>
                    <a:pt x="3599180" y="5741670"/>
                  </a:lnTo>
                  <a:cubicBezTo>
                    <a:pt x="3735070" y="5741670"/>
                    <a:pt x="3867150" y="5689600"/>
                    <a:pt x="3967480" y="5598160"/>
                  </a:cubicBezTo>
                  <a:lnTo>
                    <a:pt x="6177280" y="3553460"/>
                  </a:lnTo>
                  <a:cubicBezTo>
                    <a:pt x="6287770" y="3450590"/>
                    <a:pt x="6351270" y="3307080"/>
                    <a:pt x="6351270" y="3155950"/>
                  </a:cubicBezTo>
                  <a:lnTo>
                    <a:pt x="6351270" y="542290"/>
                  </a:lnTo>
                  <a:cubicBezTo>
                    <a:pt x="6350000" y="242570"/>
                    <a:pt x="6107430" y="0"/>
                    <a:pt x="5807710" y="0"/>
                  </a:cubicBezTo>
                  <a:lnTo>
                    <a:pt x="542290" y="0"/>
                  </a:lnTo>
                  <a:cubicBezTo>
                    <a:pt x="242570" y="0"/>
                    <a:pt x="0" y="242570"/>
                    <a:pt x="0" y="542290"/>
                  </a:cubicBezTo>
                  <a:close/>
                </a:path>
              </a:pathLst>
            </a:custGeom>
            <a:blipFill>
              <a:blip r:embed="rId4"/>
              <a:stretch>
                <a:fillRect l="-17843" r="-17843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10502719" y="2561057"/>
            <a:ext cx="5270799" cy="7367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30"/>
              </a:lnSpc>
            </a:pPr>
            <a:r>
              <a:rPr lang="en-US" sz="5940">
                <a:solidFill>
                  <a:srgbClr val="C1FF72"/>
                </a:solidFill>
                <a:latin typeface="Anonymous Pro" panose="02060609030202000504"/>
                <a:ea typeface="Anonymous Pro" panose="02060609030202000504"/>
                <a:cs typeface="Anonymous Pro" panose="02060609030202000504"/>
                <a:sym typeface="Anonymous Pro" panose="02060609030202000504"/>
              </a:rPr>
              <a:t>FUTURE SCOPE</a:t>
            </a:r>
            <a:endParaRPr lang="en-US" sz="5940">
              <a:solidFill>
                <a:srgbClr val="C1FF72"/>
              </a:solidFill>
              <a:latin typeface="Anonymous Pro" panose="02060609030202000504"/>
              <a:ea typeface="Anonymous Pro" panose="02060609030202000504"/>
              <a:cs typeface="Anonymous Pro" panose="02060609030202000504"/>
              <a:sym typeface="Anonymous Pro" panose="02060609030202000504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6982704" y="5016616"/>
            <a:ext cx="10996242" cy="3798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80"/>
              </a:lnSpc>
              <a:spcBef>
                <a:spcPct val="0"/>
              </a:spcBef>
            </a:pPr>
            <a:r>
              <a:rPr lang="en-US" sz="2700">
                <a:solidFill>
                  <a:srgbClr val="C1FF72"/>
                </a:solidFill>
                <a:latin typeface="Anonymous Pro" panose="02060609030202000504"/>
                <a:ea typeface="Anonymous Pro" panose="02060609030202000504"/>
                <a:cs typeface="Anonymous Pro" panose="02060609030202000504"/>
                <a:sym typeface="Anonymous Pro" panose="02060609030202000504"/>
              </a:rPr>
              <a:t>Integrate deep learning models (LSTM or Transformers)</a:t>
            </a:r>
            <a:endParaRPr lang="en-US" sz="2700">
              <a:solidFill>
                <a:srgbClr val="C1FF72"/>
              </a:solidFill>
              <a:latin typeface="Anonymous Pro" panose="02060609030202000504"/>
              <a:ea typeface="Anonymous Pro" panose="02060609030202000504"/>
              <a:cs typeface="Anonymous Pro" panose="02060609030202000504"/>
              <a:sym typeface="Anonymous Pro" panose="02060609030202000504"/>
            </a:endParaRPr>
          </a:p>
          <a:p>
            <a:pPr algn="ctr">
              <a:lnSpc>
                <a:spcPts val="3780"/>
              </a:lnSpc>
              <a:spcBef>
                <a:spcPct val="0"/>
              </a:spcBef>
            </a:pPr>
          </a:p>
          <a:p>
            <a:pPr algn="ctr">
              <a:lnSpc>
                <a:spcPts val="3780"/>
              </a:lnSpc>
              <a:spcBef>
                <a:spcPct val="0"/>
              </a:spcBef>
            </a:pPr>
            <a:r>
              <a:rPr lang="en-US" sz="2700">
                <a:solidFill>
                  <a:srgbClr val="C1FF72"/>
                </a:solidFill>
                <a:latin typeface="Anonymous Pro" panose="02060609030202000504"/>
                <a:ea typeface="Anonymous Pro" panose="02060609030202000504"/>
                <a:cs typeface="Anonymous Pro" panose="02060609030202000504"/>
                <a:sym typeface="Anonymous Pro" panose="02060609030202000504"/>
              </a:rPr>
              <a:t>Add multilingual support</a:t>
            </a:r>
            <a:endParaRPr lang="en-US" sz="2700">
              <a:solidFill>
                <a:srgbClr val="C1FF72"/>
              </a:solidFill>
              <a:latin typeface="Anonymous Pro" panose="02060609030202000504"/>
              <a:ea typeface="Anonymous Pro" panose="02060609030202000504"/>
              <a:cs typeface="Anonymous Pro" panose="02060609030202000504"/>
              <a:sym typeface="Anonymous Pro" panose="02060609030202000504"/>
            </a:endParaRPr>
          </a:p>
          <a:p>
            <a:pPr algn="ctr">
              <a:lnSpc>
                <a:spcPts val="3780"/>
              </a:lnSpc>
              <a:spcBef>
                <a:spcPct val="0"/>
              </a:spcBef>
            </a:pPr>
          </a:p>
          <a:p>
            <a:pPr algn="ctr">
              <a:lnSpc>
                <a:spcPts val="3780"/>
              </a:lnSpc>
              <a:spcBef>
                <a:spcPct val="0"/>
              </a:spcBef>
            </a:pPr>
            <a:r>
              <a:rPr lang="en-US" sz="2700">
                <a:solidFill>
                  <a:srgbClr val="C1FF72"/>
                </a:solidFill>
                <a:latin typeface="Anonymous Pro" panose="02060609030202000504"/>
                <a:ea typeface="Anonymous Pro" panose="02060609030202000504"/>
                <a:cs typeface="Anonymous Pro" panose="02060609030202000504"/>
                <a:sym typeface="Anonymous Pro" panose="02060609030202000504"/>
              </a:rPr>
              <a:t>Enhance small talk and emotional understanding</a:t>
            </a:r>
            <a:endParaRPr lang="en-US" sz="2700">
              <a:solidFill>
                <a:srgbClr val="C1FF72"/>
              </a:solidFill>
              <a:latin typeface="Anonymous Pro" panose="02060609030202000504"/>
              <a:ea typeface="Anonymous Pro" panose="02060609030202000504"/>
              <a:cs typeface="Anonymous Pro" panose="02060609030202000504"/>
              <a:sym typeface="Anonymous Pro" panose="02060609030202000504"/>
            </a:endParaRPr>
          </a:p>
          <a:p>
            <a:pPr algn="ctr">
              <a:lnSpc>
                <a:spcPts val="3780"/>
              </a:lnSpc>
              <a:spcBef>
                <a:spcPct val="0"/>
              </a:spcBef>
            </a:pPr>
          </a:p>
          <a:p>
            <a:pPr algn="ctr">
              <a:lnSpc>
                <a:spcPts val="3780"/>
              </a:lnSpc>
              <a:spcBef>
                <a:spcPct val="0"/>
              </a:spcBef>
            </a:pPr>
            <a:r>
              <a:rPr lang="en-US" sz="2700">
                <a:solidFill>
                  <a:srgbClr val="C1FF72"/>
                </a:solidFill>
                <a:latin typeface="Anonymous Pro" panose="02060609030202000504"/>
                <a:ea typeface="Anonymous Pro" panose="02060609030202000504"/>
                <a:cs typeface="Anonymous Pro" panose="02060609030202000504"/>
                <a:sym typeface="Anonymous Pro" panose="02060609030202000504"/>
              </a:rPr>
              <a:t>Use chatbot in real domains like education or customer support</a:t>
            </a:r>
            <a:endParaRPr lang="en-US" sz="2700">
              <a:solidFill>
                <a:srgbClr val="C1FF72"/>
              </a:solidFill>
              <a:latin typeface="Anonymous Pro" panose="02060609030202000504"/>
              <a:ea typeface="Anonymous Pro" panose="02060609030202000504"/>
              <a:cs typeface="Anonymous Pro" panose="02060609030202000504"/>
              <a:sym typeface="Anonymous Pro" panose="020606090302020005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 dir="in"/>
      </p:transition>
    </mc:Choice>
    <mc:Fallback>
      <p:transition spd="slow">
        <p:split orient="vert" dir="in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0">
            <a:off x="10123334" y="2399132"/>
            <a:ext cx="7135966" cy="6450914"/>
            <a:chOff x="0" y="0"/>
            <a:chExt cx="6350000" cy="57404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351270" cy="5741670"/>
            </a:xfrm>
            <a:custGeom>
              <a:avLst/>
              <a:gdLst/>
              <a:ahLst/>
              <a:cxnLst/>
              <a:rect l="l" t="t" r="r" b="b"/>
              <a:pathLst>
                <a:path w="6351270" h="5741670">
                  <a:moveTo>
                    <a:pt x="0" y="542290"/>
                  </a:moveTo>
                  <a:lnTo>
                    <a:pt x="0" y="2392680"/>
                  </a:lnTo>
                  <a:cubicBezTo>
                    <a:pt x="0" y="2691130"/>
                    <a:pt x="242570" y="2933700"/>
                    <a:pt x="542290" y="2933700"/>
                  </a:cubicBezTo>
                  <a:lnTo>
                    <a:pt x="1148080" y="2933700"/>
                  </a:lnTo>
                  <a:cubicBezTo>
                    <a:pt x="1447800" y="2933700"/>
                    <a:pt x="1690370" y="3176270"/>
                    <a:pt x="1690370" y="3475990"/>
                  </a:cubicBezTo>
                  <a:lnTo>
                    <a:pt x="1690370" y="5199380"/>
                  </a:lnTo>
                  <a:cubicBezTo>
                    <a:pt x="1690370" y="5499100"/>
                    <a:pt x="1932940" y="5741670"/>
                    <a:pt x="2232660" y="5741670"/>
                  </a:cubicBezTo>
                  <a:lnTo>
                    <a:pt x="3599180" y="5741670"/>
                  </a:lnTo>
                  <a:cubicBezTo>
                    <a:pt x="3735070" y="5741670"/>
                    <a:pt x="3867150" y="5689600"/>
                    <a:pt x="3967480" y="5598160"/>
                  </a:cubicBezTo>
                  <a:lnTo>
                    <a:pt x="6177280" y="3553460"/>
                  </a:lnTo>
                  <a:cubicBezTo>
                    <a:pt x="6287770" y="3450590"/>
                    <a:pt x="6351270" y="3307080"/>
                    <a:pt x="6351270" y="3155950"/>
                  </a:cubicBezTo>
                  <a:lnTo>
                    <a:pt x="6351270" y="542290"/>
                  </a:lnTo>
                  <a:cubicBezTo>
                    <a:pt x="6350000" y="242570"/>
                    <a:pt x="6107430" y="0"/>
                    <a:pt x="5807710" y="0"/>
                  </a:cubicBezTo>
                  <a:lnTo>
                    <a:pt x="542290" y="0"/>
                  </a:lnTo>
                  <a:cubicBezTo>
                    <a:pt x="242570" y="0"/>
                    <a:pt x="0" y="242570"/>
                    <a:pt x="0" y="542290"/>
                  </a:cubicBezTo>
                  <a:close/>
                </a:path>
              </a:pathLst>
            </a:custGeom>
            <a:blipFill>
              <a:blip r:embed="rId2"/>
              <a:stretch>
                <a:fillRect l="-17843" r="-17843"/>
              </a:stretch>
            </a:blipFill>
          </p:spPr>
        </p:sp>
      </p:grpSp>
      <p:sp>
        <p:nvSpPr>
          <p:cNvPr id="5" name="TextBox 5"/>
          <p:cNvSpPr txBox="1"/>
          <p:nvPr/>
        </p:nvSpPr>
        <p:spPr>
          <a:xfrm>
            <a:off x="459862" y="1834173"/>
            <a:ext cx="8048510" cy="9415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75"/>
              </a:lnSpc>
            </a:pPr>
            <a:r>
              <a:rPr lang="en-US" sz="7700">
                <a:solidFill>
                  <a:srgbClr val="C1FF72"/>
                </a:solidFill>
                <a:latin typeface="Anonymous Pro" panose="02060609030202000504"/>
                <a:ea typeface="Anonymous Pro" panose="02060609030202000504"/>
                <a:cs typeface="Anonymous Pro" panose="02060609030202000504"/>
                <a:sym typeface="Anonymous Pro" panose="02060609030202000504"/>
              </a:rPr>
              <a:t>CONCLUSION</a:t>
            </a:r>
            <a:endParaRPr lang="en-US" sz="7700">
              <a:solidFill>
                <a:srgbClr val="C1FF72"/>
              </a:solidFill>
              <a:latin typeface="Anonymous Pro" panose="02060609030202000504"/>
              <a:ea typeface="Anonymous Pro" panose="02060609030202000504"/>
              <a:cs typeface="Anonymous Pro" panose="02060609030202000504"/>
              <a:sym typeface="Anonymous Pro" panose="02060609030202000504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280324" y="3754752"/>
            <a:ext cx="9843010" cy="41569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20"/>
              </a:lnSpc>
            </a:pPr>
            <a:r>
              <a:rPr lang="en-US" sz="3585">
                <a:solidFill>
                  <a:srgbClr val="C1FF72"/>
                </a:solidFill>
                <a:latin typeface="Anonymous Pro" panose="02060609030202000504"/>
                <a:ea typeface="Anonymous Pro" panose="02060609030202000504"/>
                <a:cs typeface="Anonymous Pro" panose="02060609030202000504"/>
                <a:sym typeface="Anonymous Pro" panose="02060609030202000504"/>
              </a:rPr>
              <a:t>This project shows how AI and NLP can be combined to build smart assistants.</a:t>
            </a:r>
            <a:endParaRPr lang="en-US" sz="3585">
              <a:solidFill>
                <a:srgbClr val="C1FF72"/>
              </a:solidFill>
              <a:latin typeface="Anonymous Pro" panose="02060609030202000504"/>
              <a:ea typeface="Anonymous Pro" panose="02060609030202000504"/>
              <a:cs typeface="Anonymous Pro" panose="02060609030202000504"/>
              <a:sym typeface="Anonymous Pro" panose="02060609030202000504"/>
            </a:endParaRPr>
          </a:p>
          <a:p>
            <a:pPr algn="ctr">
              <a:lnSpc>
                <a:spcPts val="5020"/>
              </a:lnSpc>
            </a:pPr>
            <a:r>
              <a:rPr lang="en-US" sz="3585">
                <a:solidFill>
                  <a:srgbClr val="C1FF72"/>
                </a:solidFill>
                <a:latin typeface="Anonymous Pro" panose="02060609030202000504"/>
                <a:ea typeface="Anonymous Pro" panose="02060609030202000504"/>
                <a:cs typeface="Anonymous Pro" panose="02060609030202000504"/>
                <a:sym typeface="Anonymous Pro" panose="02060609030202000504"/>
              </a:rPr>
              <a:t>The chatbot works efficiently for basic interactions and provides a foundation for future enhancements.</a:t>
            </a:r>
            <a:endParaRPr lang="en-US" sz="3585">
              <a:solidFill>
                <a:srgbClr val="C1FF72"/>
              </a:solidFill>
              <a:latin typeface="Anonymous Pro" panose="02060609030202000504"/>
              <a:ea typeface="Anonymous Pro" panose="02060609030202000504"/>
              <a:cs typeface="Anonymous Pro" panose="02060609030202000504"/>
              <a:sym typeface="Anonymous Pro" panose="02060609030202000504"/>
            </a:endParaRPr>
          </a:p>
          <a:p>
            <a:pPr algn="ctr">
              <a:lnSpc>
                <a:spcPts val="5020"/>
              </a:lnSpc>
            </a:pPr>
            <a:r>
              <a:rPr lang="en-US" sz="3585">
                <a:solidFill>
                  <a:srgbClr val="C1FF72"/>
                </a:solidFill>
                <a:latin typeface="Anonymous Pro" panose="02060609030202000504"/>
                <a:ea typeface="Anonymous Pro" panose="02060609030202000504"/>
                <a:cs typeface="Anonymous Pro" panose="02060609030202000504"/>
                <a:sym typeface="Anonymous Pro" panose="02060609030202000504"/>
              </a:rPr>
              <a:t>It’s scalable, fast, and user-friendly.</a:t>
            </a:r>
            <a:endParaRPr lang="en-US" sz="3585">
              <a:solidFill>
                <a:srgbClr val="C1FF72"/>
              </a:solidFill>
              <a:latin typeface="Anonymous Pro" panose="02060609030202000504"/>
              <a:ea typeface="Anonymous Pro" panose="02060609030202000504"/>
              <a:cs typeface="Anonymous Pro" panose="02060609030202000504"/>
              <a:sym typeface="Anonymous Pro" panose="02060609030202000504"/>
            </a:endParaRPr>
          </a:p>
          <a:p>
            <a:pPr algn="ctr">
              <a:lnSpc>
                <a:spcPts val="3075"/>
              </a:lnSpc>
              <a:spcBef>
                <a:spcPct val="0"/>
              </a:spcBef>
            </a:p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 dir="in"/>
      </p:transition>
    </mc:Choice>
    <mc:Fallback>
      <p:transition spd="slow">
        <p:split orient="vert" dir="in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360660" y="3718937"/>
            <a:ext cx="11566680" cy="25538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830"/>
              </a:lnSpc>
              <a:spcBef>
                <a:spcPct val="0"/>
              </a:spcBef>
            </a:pPr>
            <a:r>
              <a:rPr lang="en-US" sz="14875">
                <a:solidFill>
                  <a:srgbClr val="C1FF72"/>
                </a:solidFill>
                <a:latin typeface="Anonymous Pro" panose="02060609030202000504"/>
                <a:ea typeface="Anonymous Pro" panose="02060609030202000504"/>
                <a:cs typeface="Anonymous Pro" panose="02060609030202000504"/>
                <a:sym typeface="Anonymous Pro" panose="02060609030202000504"/>
              </a:rPr>
              <a:t>THANK YOU</a:t>
            </a:r>
            <a:endParaRPr lang="en-US" sz="14875">
              <a:solidFill>
                <a:srgbClr val="C1FF72"/>
              </a:solidFill>
              <a:latin typeface="Anonymous Pro" panose="02060609030202000504"/>
              <a:ea typeface="Anonymous Pro" panose="02060609030202000504"/>
              <a:cs typeface="Anonymous Pro" panose="02060609030202000504"/>
              <a:sym typeface="Anonymous Pro" panose="02060609030202000504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1262785" y="1878654"/>
            <a:ext cx="3423515" cy="2798724"/>
          </a:xfrm>
          <a:custGeom>
            <a:avLst/>
            <a:gdLst/>
            <a:ahLst/>
            <a:cxnLst/>
            <a:rect l="l" t="t" r="r" b="b"/>
            <a:pathLst>
              <a:path w="3423515" h="2798724">
                <a:moveTo>
                  <a:pt x="0" y="0"/>
                </a:moveTo>
                <a:lnTo>
                  <a:pt x="3423515" y="0"/>
                </a:lnTo>
                <a:lnTo>
                  <a:pt x="3423515" y="2798724"/>
                </a:lnTo>
                <a:lnTo>
                  <a:pt x="0" y="27987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14166292" y="5302690"/>
            <a:ext cx="3423515" cy="2798724"/>
          </a:xfrm>
          <a:custGeom>
            <a:avLst/>
            <a:gdLst/>
            <a:ahLst/>
            <a:cxnLst/>
            <a:rect l="l" t="t" r="r" b="b"/>
            <a:pathLst>
              <a:path w="3423515" h="2798724">
                <a:moveTo>
                  <a:pt x="3423515" y="0"/>
                </a:moveTo>
                <a:lnTo>
                  <a:pt x="0" y="0"/>
                </a:lnTo>
                <a:lnTo>
                  <a:pt x="0" y="2798724"/>
                </a:lnTo>
                <a:lnTo>
                  <a:pt x="3423515" y="2798724"/>
                </a:lnTo>
                <a:lnTo>
                  <a:pt x="3423515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028700" y="5063866"/>
            <a:ext cx="637073" cy="159268"/>
          </a:xfrm>
          <a:custGeom>
            <a:avLst/>
            <a:gdLst/>
            <a:ahLst/>
            <a:cxnLst/>
            <a:rect l="l" t="t" r="r" b="b"/>
            <a:pathLst>
              <a:path w="637073" h="159268">
                <a:moveTo>
                  <a:pt x="0" y="0"/>
                </a:moveTo>
                <a:lnTo>
                  <a:pt x="637073" y="0"/>
                </a:lnTo>
                <a:lnTo>
                  <a:pt x="637073" y="159268"/>
                </a:lnTo>
                <a:lnTo>
                  <a:pt x="0" y="1592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622227" y="5063866"/>
            <a:ext cx="637073" cy="159268"/>
          </a:xfrm>
          <a:custGeom>
            <a:avLst/>
            <a:gdLst/>
            <a:ahLst/>
            <a:cxnLst/>
            <a:rect l="l" t="t" r="r" b="b"/>
            <a:pathLst>
              <a:path w="637073" h="159268">
                <a:moveTo>
                  <a:pt x="0" y="0"/>
                </a:moveTo>
                <a:lnTo>
                  <a:pt x="637073" y="0"/>
                </a:lnTo>
                <a:lnTo>
                  <a:pt x="637073" y="159268"/>
                </a:lnTo>
                <a:lnTo>
                  <a:pt x="0" y="1592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9944100" y="8180971"/>
            <a:ext cx="7315200" cy="1077329"/>
          </a:xfrm>
          <a:custGeom>
            <a:avLst/>
            <a:gdLst/>
            <a:ahLst/>
            <a:cxnLst/>
            <a:rect l="l" t="t" r="r" b="b"/>
            <a:pathLst>
              <a:path w="7315200" h="1077329">
                <a:moveTo>
                  <a:pt x="0" y="0"/>
                </a:moveTo>
                <a:lnTo>
                  <a:pt x="7315200" y="0"/>
                </a:lnTo>
                <a:lnTo>
                  <a:pt x="7315200" y="1077329"/>
                </a:lnTo>
                <a:lnTo>
                  <a:pt x="0" y="107732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H="1">
            <a:off x="1028700" y="8180971"/>
            <a:ext cx="7315200" cy="1077329"/>
          </a:xfrm>
          <a:custGeom>
            <a:avLst/>
            <a:gdLst/>
            <a:ahLst/>
            <a:cxnLst/>
            <a:rect l="l" t="t" r="r" b="b"/>
            <a:pathLst>
              <a:path w="7315200" h="1077329">
                <a:moveTo>
                  <a:pt x="7315200" y="0"/>
                </a:moveTo>
                <a:lnTo>
                  <a:pt x="0" y="0"/>
                </a:lnTo>
                <a:lnTo>
                  <a:pt x="0" y="1077329"/>
                </a:lnTo>
                <a:lnTo>
                  <a:pt x="7315200" y="1077329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 dir="in"/>
      </p:transition>
    </mc:Choice>
    <mc:Fallback>
      <p:transition spd="slow">
        <p:split orient="vert" dir="in"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1761</Words>
  <Application>WPS Slides</Application>
  <PresentationFormat>On-screen Show (4:3)</PresentationFormat>
  <Paragraphs>90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9" baseType="lpstr">
      <vt:lpstr>Arial</vt:lpstr>
      <vt:lpstr>SimSun</vt:lpstr>
      <vt:lpstr>Wingdings</vt:lpstr>
      <vt:lpstr>Anonymous Pro</vt:lpstr>
      <vt:lpstr>Anonymous Pro Bold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 and Black Modern Futuristic Technology Presentation</dc:title>
  <dc:creator/>
  <cp:lastModifiedBy>Nancy Dumpala</cp:lastModifiedBy>
  <cp:revision>3</cp:revision>
  <dcterms:created xsi:type="dcterms:W3CDTF">2006-08-16T00:00:00Z</dcterms:created>
  <dcterms:modified xsi:type="dcterms:W3CDTF">2025-04-30T10:26:23Z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DB46CAFD73BC46809F853E306C70ABAC_13</vt:lpwstr>
  </property>
  <property fmtid="{D5CDD505-2E9C-101B-9397-08002B2CF9AE}" pid="3" name="KSOProductBuildVer">
    <vt:lpwstr>1033-12.2.0.20782</vt:lpwstr>
  </property>
</Properties>
</file>